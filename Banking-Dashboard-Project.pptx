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consolata"/>
      <p:regular r:id="rId201314"/>
    </p:embeddedFont>
    <p:embeddedFont>
      <p:font typeface="Inconsolata Bold"/>
      <p:regular r:id="rId201315"/>
    </p:embeddedFont>
    <p:embeddedFont>
      <p:font typeface="Montserrat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2.png"/><Relationship Id="rId9" Type="http://schemas.openxmlformats.org/officeDocument/2006/relationships/image" Target="../media/image-10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Banking Dashboard Project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Risk Analytics &amp; Interactive Power BI Dashboards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1897"/>
            <a:ext cx="6296860" cy="93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Challenge: Lending Risk in Banking</a:t>
            </a:r>
            <a:endParaRPr lang="en-US" sz="2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77987"/>
            <a:ext cx="6296860" cy="10641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5547" y="1845866"/>
            <a:ext cx="588491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Creditworthiness Assessment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905547" y="2148582"/>
            <a:ext cx="5884914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Banks face significant challenges evaluating loan applicants, making accurate credit decisions critical to portfolio health.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859286"/>
            <a:ext cx="6296860" cy="106412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05547" y="3027164"/>
            <a:ext cx="588491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Default Risk &amp; NPAs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905547" y="3329880"/>
            <a:ext cx="5884914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Incorrect lending decisions lead to high default rates and non-performing assets, eroding profitability.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040584"/>
            <a:ext cx="6296860" cy="106412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05547" y="4208463"/>
            <a:ext cx="588491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Financial Losses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905547" y="4511179"/>
            <a:ext cx="5884914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Substantial losses accumulate from poor risk assessment across loan portfolios at scale.</a:t>
            </a:r>
            <a:endParaRPr lang="en-US" sz="11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221883"/>
            <a:ext cx="6296860" cy="106412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05547" y="5389761"/>
            <a:ext cx="588491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Need for Data-Driven Tools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905547" y="5692477"/>
            <a:ext cx="5884914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Decision-makers require interactive analytics to evaluate applicant profiles and make informed, defensible lending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409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Objectives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5790" y="2156321"/>
            <a:ext cx="5554821" cy="31477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7244" y="1279128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What This Project Delivers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7957244" y="1620143"/>
            <a:ext cx="318881" cy="318889"/>
          </a:xfrm>
          <a:prstGeom prst="roundRect">
            <a:avLst>
              <a:gd name="adj" fmla="val 2390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7780" dir="2700000">
              <a:srgbClr val="151617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10374" y="1646684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382386" y="1668859"/>
            <a:ext cx="3154085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Interactive Power BI Dashboards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382386" y="2218035"/>
            <a:ext cx="315408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Presenting key banking metrics and KPIs for real-time decision support.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957244" y="2827536"/>
            <a:ext cx="318881" cy="318889"/>
          </a:xfrm>
          <a:prstGeom prst="roundRect">
            <a:avLst>
              <a:gd name="adj" fmla="val 2390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7780" dir="2700000">
              <a:srgbClr val="151617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010374" y="2854077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382386" y="2876252"/>
            <a:ext cx="31540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Portfolio Segmentation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382386" y="3203972"/>
            <a:ext cx="315408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Analyse loan and deposit portfolios by gender, income band, nationality, occupation, and banking relationship type.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957244" y="4011910"/>
            <a:ext cx="318881" cy="318889"/>
          </a:xfrm>
          <a:prstGeom prst="roundRect">
            <a:avLst>
              <a:gd name="adj" fmla="val 2390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7780" dir="2700000">
              <a:srgbClr val="151617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010374" y="4038451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8382386" y="4060627"/>
            <a:ext cx="31540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Risk Pattern Identification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382386" y="4388346"/>
            <a:ext cx="315408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Distinguish clients likely to repay from higher-risk profiles to minimise lending risk.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957244" y="5196284"/>
            <a:ext cx="318881" cy="318889"/>
          </a:xfrm>
          <a:prstGeom prst="roundRect">
            <a:avLst>
              <a:gd name="adj" fmla="val 2390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7780" dir="2700000">
              <a:srgbClr val="151617">
                <a:alpha val="10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010374" y="5222825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8382386" y="5245001"/>
            <a:ext cx="31540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Consolidated KPI View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382386" y="5572720"/>
            <a:ext cx="315408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Total Clients, Total Loan, Total Deposit, Business Lending, and account balances in one unified view.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Foundation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559123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Dataset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1475" y="2032992"/>
            <a:ext cx="520746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Multiple interlinked tables connected through primary and foreign keys, forming a robust relational data model.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101975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Tables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1475" y="3575844"/>
            <a:ext cx="5207465" cy="173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Banking Relationship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Client-Banking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Gender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Investment Advisor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Period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29105" y="1581944"/>
            <a:ext cx="2512156" cy="2039739"/>
          </a:xfrm>
          <a:prstGeom prst="roundRect">
            <a:avLst>
              <a:gd name="adj" fmla="val 374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24130" dir="2700000">
              <a:srgbClr val="151617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21485" y="1774329"/>
            <a:ext cx="2127395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Client Demographics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21485" y="2538909"/>
            <a:ext cx="212739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Income band, nationality, occupation, gender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024414" y="1581944"/>
            <a:ext cx="2512156" cy="2039739"/>
          </a:xfrm>
          <a:prstGeom prst="roundRect">
            <a:avLst>
              <a:gd name="adj" fmla="val 374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24130" dir="2700000">
              <a:srgbClr val="151617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216794" y="1774329"/>
            <a:ext cx="212739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Account Types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216794" y="2248198"/>
            <a:ext cx="212739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Loan products, deposits, checking, savings, foreign currency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29105" y="3804841"/>
            <a:ext cx="2512156" cy="2330450"/>
          </a:xfrm>
          <a:prstGeom prst="roundRect">
            <a:avLst>
              <a:gd name="adj" fmla="val 327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24130" dir="2700000">
              <a:srgbClr val="151617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21485" y="3997226"/>
            <a:ext cx="2127395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Advisor Relationships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21485" y="4761805"/>
            <a:ext cx="212739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Institution advisor linkage and relationship type mapping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024414" y="3804841"/>
            <a:ext cx="2512156" cy="2330450"/>
          </a:xfrm>
          <a:prstGeom prst="roundRect">
            <a:avLst>
              <a:gd name="adj" fmla="val 327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24130" dir="2700000">
              <a:srgbClr val="151617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16794" y="3997226"/>
            <a:ext cx="212739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Transformations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216794" y="4471095"/>
            <a:ext cx="212739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Engagement Timeframe, Engagement Days, Income Band binning, Processing Fees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494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Core KPIs &amp; Calculations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4623" y="1513483"/>
            <a:ext cx="5061319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3,000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661475" y="2323703"/>
            <a:ext cx="53277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Total Clients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61475" y="2706489"/>
            <a:ext cx="532771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DISTINCTCOUNT of Client ID across the full portfolio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35554" y="1513483"/>
            <a:ext cx="5061419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4.38bn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6202406" y="2323703"/>
            <a:ext cx="53278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Total Loan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202406" y="2706489"/>
            <a:ext cx="53278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Bank Loan + Business Lending + Credit Cards Balance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4623" y="3417391"/>
            <a:ext cx="5061319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3.77bn</a:t>
            </a:r>
            <a:endParaRPr lang="en-US" sz="4650" dirty="0"/>
          </a:p>
        </p:txBody>
      </p:sp>
      <p:sp>
        <p:nvSpPr>
          <p:cNvPr id="10" name="Text 8"/>
          <p:cNvSpPr/>
          <p:nvPr/>
        </p:nvSpPr>
        <p:spPr>
          <a:xfrm>
            <a:off x="661475" y="4227612"/>
            <a:ext cx="53277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Total Deposit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61475" y="4610398"/>
            <a:ext cx="53277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Bank Deposit + Savings + Foreign Currency + Checking Accounts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35554" y="3417391"/>
            <a:ext cx="5061419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SUMX</a:t>
            </a:r>
            <a:endParaRPr lang="en-US" sz="4650" dirty="0"/>
          </a:p>
        </p:txBody>
      </p:sp>
      <p:sp>
        <p:nvSpPr>
          <p:cNvPr id="13" name="Text 11"/>
          <p:cNvSpPr/>
          <p:nvPr/>
        </p:nvSpPr>
        <p:spPr>
          <a:xfrm>
            <a:off x="6202406" y="4227612"/>
            <a:ext cx="53278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Total Fees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202406" y="4610398"/>
            <a:ext cx="53278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Total Loan × Processing Fees rate per client record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1475" y="5362476"/>
            <a:ext cx="10868745" cy="973931"/>
          </a:xfrm>
          <a:prstGeom prst="roundRect">
            <a:avLst>
              <a:gd name="adj" fmla="val 782"/>
            </a:avLst>
          </a:prstGeom>
          <a:solidFill>
            <a:srgbClr val="E4E6E7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957" y="5604966"/>
            <a:ext cx="224427" cy="17948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44867" y="5577880"/>
            <a:ext cx="10105871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Engagement Length is calculated as SUM of Engagement Days — capturing client tenure across the full banking relationship lifecycle.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6459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DASHBOARD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070" y="2150269"/>
            <a:ext cx="5888287" cy="32642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87207" y="1559818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Portfolio at a Glance</a:t>
            </a:r>
            <a:endParaRPr lang="en-US" sz="15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87207" y="1964432"/>
          <a:ext cx="9143771" cy="914400"/>
        </p:xfrm>
        <a:graphic>
          <a:graphicData uri="http://schemas.openxmlformats.org/drawingml/2006/table">
            <a:tbl>
              <a:tblPr/>
              <a:tblGrid>
                <a:gridCol w="1774632"/>
                <a:gridCol w="1774632"/>
              </a:tblGrid>
              <a:tr h="417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Metric</a:t>
                      </a:r>
                      <a:endParaRPr lang="en-US" sz="12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6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Value</a:t>
                      </a:r>
                      <a:endParaRPr lang="en-US" sz="12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5A6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ED8"/>
                    </a:solidFill>
                  </a:tcPr>
                </a:tc>
              </a:tr>
              <a:tr h="4204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Total Clients</a:t>
                      </a:r>
                      <a:endParaRPr lang="en-US" sz="12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3,000</a:t>
                      </a:r>
                      <a:endParaRPr lang="en-US" sz="12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4204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Total Loan</a:t>
                      </a:r>
                      <a:endParaRPr lang="en-US" sz="12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4.38bn</a:t>
                      </a:r>
                      <a:endParaRPr lang="en-US" sz="12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4204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Total Deposit</a:t>
                      </a:r>
                      <a:endParaRPr lang="en-US" sz="12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3.77bn</a:t>
                      </a:r>
                      <a:endParaRPr lang="en-US" sz="12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6582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Business Lending</a:t>
                      </a:r>
                      <a:endParaRPr lang="en-US" sz="12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2.60bn</a:t>
                      </a:r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 (59% of loan book)</a:t>
                      </a:r>
                      <a:endParaRPr lang="en-US" sz="12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4204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Checking Accounts</a:t>
                      </a:r>
                      <a:endParaRPr lang="en-US" sz="12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963.28M</a:t>
                      </a:r>
                      <a:endParaRPr lang="en-US" sz="12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417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Savings Accounts</a:t>
                      </a:r>
                      <a:endParaRPr lang="en-US" sz="12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698.73M</a:t>
                      </a:r>
                      <a:endParaRPr lang="en-US" sz="12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987207" y="5305524"/>
            <a:ext cx="354926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Filters available: Joining Year, Gender, Banking Relationship, and Institution Advisor for granular drill-down.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416"/>
            <a:ext cx="10868745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Loan Analysis Dashboard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662906"/>
            <a:ext cx="3523765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Loan Portfolio Breakdown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24968"/>
            <a:ext cx="3347557" cy="28800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5190927"/>
            <a:ext cx="3523765" cy="82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Bank Loan by Income Band: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High 53.12% (942.49M) · Low 25.26% (448.19M) · Mid 21.61% (383.47M)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618" y="1517650"/>
            <a:ext cx="6567919" cy="36532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22784" y="5356820"/>
            <a:ext cx="6913687" cy="82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High Income Band accounts for the largest share. Distribution by Banking Relationship and Occupation highlights concentration risk areas for targeted review.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330"/>
            <a:ext cx="10868745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Deposit Analysis Dashboard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170" y="1383804"/>
            <a:ext cx="5890172" cy="3265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83239" y="2136279"/>
            <a:ext cx="3553232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Deposit Portfolio: 3.77bn Total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83239" y="2515691"/>
            <a:ext cx="3553232" cy="1394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High Income Band dominates deposits. Patterns by Banking Relationship, Occupation, and Nationality inform targeted product design and retention strategies. Filters: Banking Relationship, Gender, Institution Advisor.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946848"/>
            <a:ext cx="3534679" cy="13687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8675" y="5579467"/>
            <a:ext cx="3180278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High Income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838675" y="5905996"/>
            <a:ext cx="3180278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54.17%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1.09bn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8409" y="4946848"/>
            <a:ext cx="3534778" cy="13687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05609" y="5579467"/>
            <a:ext cx="318037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Low Income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4505609" y="5905996"/>
            <a:ext cx="318037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24.79%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0.50bn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95442" y="4946848"/>
            <a:ext cx="3534679" cy="13687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72642" y="5579467"/>
            <a:ext cx="3180278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Mid Income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8172642" y="5905996"/>
            <a:ext cx="3180278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21.05%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0.42bn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22796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Impact &amp; Business Value</a:t>
            </a:r>
            <a:endParaRPr lang="en-US" sz="3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439863"/>
            <a:ext cx="448854" cy="4488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95431" y="1439863"/>
            <a:ext cx="563479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Empowered Decision-Making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5895431" y="1822648"/>
            <a:ext cx="563479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Lending decisions grounded in applicant profiles and clear risk indicators — reducing reliance on intuition.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723952"/>
            <a:ext cx="448854" cy="4488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95431" y="2723952"/>
            <a:ext cx="563479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Faster Lending Decisions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5895431" y="3106737"/>
            <a:ext cx="563479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Clear visibility into loan and deposit portfolios accelerates the credit review and approval process.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008041"/>
            <a:ext cx="448854" cy="4488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895431" y="4008041"/>
            <a:ext cx="563479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Better Risk Assessment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5895431" y="4390827"/>
            <a:ext cx="563479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Concentration analysis by relationship type, occupation, and nationality surfaces hidden risk pockets before they escalate.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5292130"/>
            <a:ext cx="448854" cy="44886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895431" y="5292130"/>
            <a:ext cx="563479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Data-Driven Strategy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5895431" y="5674916"/>
            <a:ext cx="563479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Supports client acquisition, product design, and retention strategies rooted in real portfolio behaviour.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9351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Future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419" y="2254647"/>
            <a:ext cx="5207663" cy="2951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7244" y="1388070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Next Steps for Deeper Insight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0325" y="1733451"/>
            <a:ext cx="212620" cy="21262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17806" y="1729085"/>
            <a:ext cx="31186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Advisor-Level Monitoring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8417806" y="2056805"/>
            <a:ext cx="311866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Track total loan amounts and portfolio metrics segmented by individual investor and advisor to surface performance gaps.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0325" y="2869109"/>
            <a:ext cx="212620" cy="2126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417806" y="2864743"/>
            <a:ext cx="31186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Relationship Type Analysis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8417806" y="3192463"/>
            <a:ext cx="311866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Analyse which banking relationship types attract more clients and refine acquisition strategies accordingly.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10325" y="4004766"/>
            <a:ext cx="212620" cy="21262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417806" y="4000401"/>
            <a:ext cx="31186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Targeted Risk Review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8417806" y="4328120"/>
            <a:ext cx="311866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Identify nationalities and income bands with the highest bank loan concentrations for proactive credit risk review.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10325" y="5140424"/>
            <a:ext cx="212620" cy="21262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417806" y="5136059"/>
            <a:ext cx="31186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Time-Series &amp; Product Trends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8417806" y="5463778"/>
            <a:ext cx="311866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Extend analysis to product-level and time-series trends to enable proactive, forward-looking risk management.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2026-09-13T20:41:21Z</dcterms:created>
  <dcterms:modified xsi:type="dcterms:W3CDTF">2026-09-13T20:41:21Z</dcterms:modified>
</cp:coreProperties>
</file>